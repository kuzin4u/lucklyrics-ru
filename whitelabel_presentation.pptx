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{{БРЕНД}}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Аналитика каталога {{МАРКЕТПЛЕЙС}}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Рекомендации · План реализации · Финансовая модель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029200" cy="9144"/>
          </a:xfrm>
          <a:prstGeom prst="rect">
            <a:avLst/>
          </a:prstGeom>
          <a:solidFill>
            <a:srgbClr val="1E263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{{N}} SKU  ·  {{M}} отзывов  ·  {{ДАТА}}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{{ССЫЛКА}}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675120" y="365760"/>
            <a:ext cx="2011680" cy="320040"/>
          </a:xfrm>
          <a:prstGeom prst="roundRect">
            <a:avLst>
              <a:gd name="adj" fmla="val 17143"/>
            </a:avLst>
          </a:prstGeom>
          <a:solidFill>
            <a:srgbClr val="0F1729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 LABEL ШАБЛОН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13</a:t>
            </a:r>
            <a:endParaRPr lang="en-US" sz="800" dirty="0"/>
          </a:p>
        </p:txBody>
      </p:sp>
      <p:sp>
        <p:nvSpPr>
          <p:cNvPr id="11" name="TextBox 10"/>
          <p:cNvSpPr txBox="1"/>
          <p:nvPr/>
        </p:nvSpPr>
        <p:spPr>
          <a:xfrm>
            <a:off x="548640" y="4434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6B7A94"/>
                </a:solidFill>
                <a:latin typeface="Arial"/>
              </a:rPr>
              <a:t>Часть пакета: + whitelabel_brief.docx (бриф) + whitelabel_roadmap.html (интерактивный план и финмодель)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показатели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0F1729"/>
          </a:solidFill>
          <a:ln w="6350">
            <a:solidFill>
              <a:srgbClr val="1E26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{{N}}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 В КАТАЛОГЕ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2148840" y="91440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0F1729"/>
          </a:solidFill>
          <a:ln w="6350">
            <a:solidFill>
              <a:srgbClr val="1E26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48840" y="960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{{M}}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148840" y="12984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ОТЗЫВОВ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840480" y="91440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0F1729"/>
          </a:solidFill>
          <a:ln w="6350">
            <a:solidFill>
              <a:srgbClr val="1E26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0" y="960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{{R}}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840480" y="12984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СРЕДНИЙ РЕЙТИНГ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5532120" y="91440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0F1729"/>
          </a:solidFill>
          <a:ln w="6350">
            <a:solidFill>
              <a:srgbClr val="1E26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32120" y="960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{{P5}}%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532120" y="12984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ОТЗЫВЫ ⭐5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7223760" y="91440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0F1729"/>
          </a:solidFill>
          <a:ln w="6350">
            <a:solidFill>
              <a:srgbClr val="1E26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0" y="960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{{P13}}%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223760" y="12984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КРИТИКА ⭐1-3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57200" y="1920240"/>
            <a:ext cx="8229600" cy="2834640"/>
          </a:xfrm>
          <a:prstGeom prst="roundRect">
            <a:avLst>
              <a:gd name="adj" fmla="val 3226"/>
            </a:avLst>
          </a:prstGeom>
          <a:solidFill>
            <a:srgbClr val="111827"/>
          </a:solidFill>
          <a:ln w="6350">
            <a:solidFill>
              <a:srgbClr val="1E263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011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выводы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24231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{{ВЫВОД_1: Сильные стороны — рейтинг, база отзывов, узнаваемость}}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286207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 {{ПРОБЛЕМА_1: Главный генератор негатива — описание и процент}}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3300984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 {{ПРОБЛЕМА_2: Второй генератор негатива — описание и процент}}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373989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{{ВОЗМОЖНОСТЬ: Неиспользованные точки роста (use-кейсы, контент, SEO)}}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417880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 {{АССОРТИМЕНТ: SKU без отзывов, проблемные позиции}}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каталога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6350">
            <a:solidFill>
              <a:srgbClr val="1E26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60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категориям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{{Категория 1}}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017520" y="1325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{{X}}%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27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{{Категория 2}}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17520" y="16276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{{Y}}%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9293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{{Категория 3}}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17520" y="19293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{{Z}}%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86868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6350">
            <a:solidFill>
              <a:srgbClr val="1E26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960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Ценовые сегменты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325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{{Цена}}₽ Базовый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0" y="1325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{{X}} SKU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1627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{{Цена}}₽ Средний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32320" y="16276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{{Y}} SKU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19293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{{Цена}}₽ Премиум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2320" y="19293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{{Z}} SKU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56032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6350">
            <a:solidFill>
              <a:srgbClr val="1E263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6517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Топ-6 по отзывам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3017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{{SKU_1_НАЗВАНИЕ}}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32186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{{ЦЕНА}}₽  ·  ⭐{{РЕЙТИНГ}}  ·  {{N}} отзывов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40080" y="3566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{{SKU_2_НАЗВАНИЕ}}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37673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{{ЦЕНА}}₽  ·  ⭐{{РЕЙТИНГ}}  ·  {{N}} отзывов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40080" y="4114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{{SKU_3_НАЗВАНИЕ}}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43159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{{ЦЕНА}}₽  ·  ⭐{{РЕЙТИНГ}}  ·  {{N}} отзывов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54880" y="3017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{{SKU_4_НАЗВАНИЕ}}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54880" y="32186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{{ЦЕНА}}₽  ·  ⭐{{РЕЙТИНГ}}  ·  {{N}} отзывов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54880" y="3566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{{SKU_5_НАЗВАНИЕ}}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54880" y="37673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{{ЦЕНА}}₽  ·  ⭐{{РЕЙТИНГ}}  ·  {{N}} отзывов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54880" y="4114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{{SKU_6_НАЗВАНИЕ}}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54880" y="43159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{{ЦЕНА}}₽  ·  ⭐{{РЕЙТИНГ}}  ·  {{N}} отзывов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негативных паттернов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Частота упоминания в {{M}} отзывах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029200" cy="2926080"/>
          </a:xfrm>
          <a:prstGeom prst="roundRect">
            <a:avLst>
              <a:gd name="adj" fmla="val 3125"/>
            </a:avLst>
          </a:prstGeom>
          <a:solidFill>
            <a:srgbClr val="111827"/>
          </a:solidFill>
          <a:ln w="6350">
            <a:solidFill>
              <a:srgbClr val="1E26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{{ПАТТЕРН_1}}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017520" y="1261872"/>
            <a:ext cx="2103120" cy="182880"/>
          </a:xfrm>
          <a:prstGeom prst="roundRect">
            <a:avLst>
              <a:gd name="adj" fmla="val 20000"/>
            </a:avLst>
          </a:prstGeom>
          <a:solidFill>
            <a:srgbClr val="1E2636"/>
          </a:solidFill>
          <a:ln/>
        </p:spPr>
      </p:sp>
      <p:sp>
        <p:nvSpPr>
          <p:cNvPr id="7" name="Text 5"/>
          <p:cNvSpPr/>
          <p:nvPr/>
        </p:nvSpPr>
        <p:spPr>
          <a:xfrm>
            <a:off x="3017520" y="12344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{{X}}%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6733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{{ПАТТЕРН_2}}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17520" y="1700784"/>
            <a:ext cx="2103120" cy="182880"/>
          </a:xfrm>
          <a:prstGeom prst="roundRect">
            <a:avLst>
              <a:gd name="adj" fmla="val 20000"/>
            </a:avLst>
          </a:prstGeom>
          <a:solidFill>
            <a:srgbClr val="1E2636"/>
          </a:solidFill>
          <a:ln/>
        </p:spPr>
      </p:sp>
      <p:sp>
        <p:nvSpPr>
          <p:cNvPr id="10" name="Text 8"/>
          <p:cNvSpPr/>
          <p:nvPr/>
        </p:nvSpPr>
        <p:spPr>
          <a:xfrm>
            <a:off x="3017520" y="167335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{{Y}}%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11226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{{ПАТТЕРН_3}}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17520" y="2139696"/>
            <a:ext cx="2103120" cy="182880"/>
          </a:xfrm>
          <a:prstGeom prst="roundRect">
            <a:avLst>
              <a:gd name="adj" fmla="val 20000"/>
            </a:avLst>
          </a:prstGeom>
          <a:solidFill>
            <a:srgbClr val="1E2636"/>
          </a:solidFill>
          <a:ln/>
        </p:spPr>
      </p:sp>
      <p:sp>
        <p:nvSpPr>
          <p:cNvPr id="13" name="Text 11"/>
          <p:cNvSpPr/>
          <p:nvPr/>
        </p:nvSpPr>
        <p:spPr>
          <a:xfrm>
            <a:off x="3017520" y="211226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{{Z}}%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255117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{{ПАТТЕРН_4}}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017520" y="2578608"/>
            <a:ext cx="2103120" cy="182880"/>
          </a:xfrm>
          <a:prstGeom prst="roundRect">
            <a:avLst>
              <a:gd name="adj" fmla="val 20000"/>
            </a:avLst>
          </a:prstGeom>
          <a:solidFill>
            <a:srgbClr val="1E2636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0" y="255117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{{W}}%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29900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{{ПАТТЕРН_5}}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017520" y="3017520"/>
            <a:ext cx="2103120" cy="182880"/>
          </a:xfrm>
          <a:prstGeom prst="roundRect">
            <a:avLst>
              <a:gd name="adj" fmla="val 20000"/>
            </a:avLst>
          </a:prstGeom>
          <a:solidFill>
            <a:srgbClr val="1E2636"/>
          </a:solidFill>
          <a:ln/>
        </p:spPr>
      </p:sp>
      <p:sp>
        <p:nvSpPr>
          <p:cNvPr id="19" name="Text 17"/>
          <p:cNvSpPr/>
          <p:nvPr/>
        </p:nvSpPr>
        <p:spPr>
          <a:xfrm>
            <a:off x="3017520" y="299008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{{V}}%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3429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{{ПАТТЕРН_6}}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017520" y="3456432"/>
            <a:ext cx="2103120" cy="182880"/>
          </a:xfrm>
          <a:prstGeom prst="roundRect">
            <a:avLst>
              <a:gd name="adj" fmla="val 20000"/>
            </a:avLst>
          </a:prstGeom>
          <a:solidFill>
            <a:srgbClr val="1E2636"/>
          </a:solidFill>
          <a:ln/>
        </p:spPr>
      </p:sp>
      <p:sp>
        <p:nvSpPr>
          <p:cNvPr id="22" name="Text 20"/>
          <p:cNvSpPr/>
          <p:nvPr/>
        </p:nvSpPr>
        <p:spPr>
          <a:xfrm>
            <a:off x="3017520" y="34290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{{U}}%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760720" y="1051560"/>
            <a:ext cx="2926080" cy="2926080"/>
          </a:xfrm>
          <a:prstGeom prst="roundRect">
            <a:avLst>
              <a:gd name="adj" fmla="val 3125"/>
            </a:avLst>
          </a:prstGeom>
          <a:solidFill>
            <a:srgbClr val="111827"/>
          </a:solidFill>
          <a:ln w="6350">
            <a:solidFill>
              <a:srgbClr val="1E263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0" y="1188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вывод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0" y="1554480"/>
            <a:ext cx="2560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{{ВЫВОД_О_ПАТТЕРНАХ: Описание ключевого инсайта о негативных паттернах, связь между жалобами и рейтингом, рекомендация}}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Две ключевые проблемы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3657600"/>
          </a:xfrm>
          <a:prstGeom prst="roundRect">
            <a:avLst>
              <a:gd name="adj" fmla="val 2500"/>
            </a:avLst>
          </a:prstGeom>
          <a:solidFill>
            <a:srgbClr val="111827"/>
          </a:solidFill>
          <a:ln w="6350">
            <a:solidFill>
              <a:srgbClr val="1E26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 {{ПРОБЛЕМА_1}} — {{X}}%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{{ОПИСАНИЕ_ПРОБЛЕМЫ_1: Количество отзывов, суть жалоб}}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Корень проблемы: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{{КОРЕНЬ_1: Почему возникает, механика проблемы}}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{{РЕШЕНИЕ_1A}}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{{РЕШЕНИЕ_1B}}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{{РЕШЕНИЕ_1C}}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3931920" cy="3657600"/>
          </a:xfrm>
          <a:prstGeom prst="roundRect">
            <a:avLst>
              <a:gd name="adj" fmla="val 2500"/>
            </a:avLst>
          </a:prstGeom>
          <a:solidFill>
            <a:srgbClr val="111827"/>
          </a:solidFill>
          <a:ln w="6350">
            <a:solidFill>
              <a:srgbClr val="1E26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005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 {{ПРОБЛЕМА_2}} — {{Y}}%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371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{{ОПИСАНИЕ_ПРОБЛЕМЫ_2: Количество отзывов, суть жалоб}}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19202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Корень проблемы: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21488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{{КОРЕНЬ_2: Почему возникает, механика проблемы}}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0" y="26974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292608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{{РЕШЕНИЕ_2A}}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{{РЕШЕНИЕ_2B}}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{{РЕШЕНИЕ_2C}}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Use-кейсы покупателей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Реальные сценарии из отзывов — не раскрыты на карточках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6350">
            <a:solidFill>
              <a:srgbClr val="1E26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🎁  {{USE_CASE_1}}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{{ОПИСАНИЕ_UC_1: Что покупатели говорят, как используют}}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6350">
            <a:solidFill>
              <a:srgbClr val="1E26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⛰️  {{USE_CASE_2}}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5544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{{ОПИСАНИЕ_UC_2: Что покупатели говорят, как используют}}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6350">
            <a:solidFill>
              <a:srgbClr val="1E26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👶  {{USE_CASE_3}}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{{ОПИСАНИЕ_UC_3: Что покупатели говорят, как используют}}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274320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6350">
            <a:solidFill>
              <a:srgbClr val="1E26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 {{USE_CASE_4}}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32004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{{ОПИСАНИЕ_UC_4: Что покупатели говорят, как используют}}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воронки продаж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6350">
            <a:solidFill>
              <a:srgbClr val="1E26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60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Трафик → Карточка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0" y="9601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Поиск, категория, реклама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6350">
            <a:solidFill>
              <a:srgbClr val="1E26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00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 Карточка → Интерес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0" y="16002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{{БАРЬЕР_1}}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6350">
            <a:solidFill>
              <a:srgbClr val="1E26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240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  Интерес → Корзина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0" y="22402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{{БАРЬЕР_2}}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6350">
            <a:solidFill>
              <a:srgbClr val="1E26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80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 Получение → Оценка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0" y="28803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{{БАРЬЕР_3}}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6350">
            <a:solidFill>
              <a:srgbClr val="1E26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520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Отзыв → Рейтинг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0" y="35204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{{МЕТРИКА_ОТЗЫВОВ}}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6350">
            <a:solidFill>
              <a:srgbClr val="1E263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160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 Повторная покупка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0" y="41605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{{МЕТРИКА_ПОВТОРОВ}}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13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{{N}} рекомендаций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111827"/>
          </a:solidFill>
          <a:ln w="6350">
            <a:solidFill>
              <a:srgbClr val="1E263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051560"/>
            <a:ext cx="411480" cy="41148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960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{{РЕК_1}}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1234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{{ПОДЗАГОЛОВОК_1}}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474720" y="1143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Критический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111827"/>
          </a:solidFill>
          <a:ln w="6350">
            <a:solidFill>
              <a:srgbClr val="1E263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92040" y="1051560"/>
            <a:ext cx="411480" cy="41148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94960" y="960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{{РЕК_2}}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94960" y="1234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{{ПОДЗАГОЛОВОК_2}}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1143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Критический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187452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111827"/>
          </a:solidFill>
          <a:ln w="6350">
            <a:solidFill>
              <a:srgbClr val="1E263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2057400"/>
            <a:ext cx="411480" cy="41148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{{РЕК_3}}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7280" y="22402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{{ПОДЗАГОЛОВОК_3}}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74720" y="2148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Высокий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54880" y="187452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111827"/>
          </a:solidFill>
          <a:ln w="6350">
            <a:solidFill>
              <a:srgbClr val="1E263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92040" y="2057400"/>
            <a:ext cx="411480" cy="41148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9496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{{РЕК_4}}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94960" y="22402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{{ПОДЗАГОЛОВОК_4}}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72400" y="2148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Высокий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288036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111827"/>
          </a:solidFill>
          <a:ln w="6350">
            <a:solidFill>
              <a:srgbClr val="1E263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3063240"/>
            <a:ext cx="411480" cy="41148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97280" y="2971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{{РЕК_5}}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97280" y="3246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{{ПОДЗАГОЛОВОК_5}}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474720" y="3154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Высокий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288036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111827"/>
          </a:solidFill>
          <a:ln w="6350">
            <a:solidFill>
              <a:srgbClr val="1E263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92040" y="3063240"/>
            <a:ext cx="411480" cy="41148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35" name="Text 33"/>
          <p:cNvSpPr/>
          <p:nvPr/>
        </p:nvSpPr>
        <p:spPr>
          <a:xfrm>
            <a:off x="489204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394960" y="2971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{{РЕК_6}}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94960" y="3246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{{ПОДЗАГОЛОВОК_6}}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772400" y="3154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Средний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388620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111827"/>
          </a:solidFill>
          <a:ln w="6350">
            <a:solidFill>
              <a:srgbClr val="1E263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4360" y="4069080"/>
            <a:ext cx="411480" cy="41148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41" name="Text 39"/>
          <p:cNvSpPr/>
          <p:nvPr/>
        </p:nvSpPr>
        <p:spPr>
          <a:xfrm>
            <a:off x="594360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097280" y="3977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{{РЕК_7}}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97280" y="4251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{{ПОДЗАГОЛОВОК_7}}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474720" y="4160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Критический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54880" y="388620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111827"/>
          </a:solidFill>
          <a:ln w="6350">
            <a:solidFill>
              <a:srgbClr val="1E263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92040" y="4069080"/>
            <a:ext cx="411480" cy="41148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47" name="Text 45"/>
          <p:cNvSpPr/>
          <p:nvPr/>
        </p:nvSpPr>
        <p:spPr>
          <a:xfrm>
            <a:off x="4892040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394960" y="3977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{{РЕК_8}}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394960" y="4251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{{ПОДЗАГОЛОВОК_8}}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772400" y="4160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Средний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13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реализации — {{НЕДЕЛЬ}} недель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11827"/>
          </a:solidFill>
          <a:ln w="6350">
            <a:solidFill>
              <a:srgbClr val="1E263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45720" cy="82296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60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Фаза 1: {{ФАЗА_1}}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{{ЗАДАЧИ_ФАЗЫ_1}}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0" y="1005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1–3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0" y="1005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{{БЮДЖЕТ_1}}₽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11827"/>
          </a:solidFill>
          <a:ln w="6350">
            <a:solidFill>
              <a:srgbClr val="1E263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74520"/>
            <a:ext cx="45720" cy="8229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Фаза 2: {{ФАЗА_2}}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240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{{ЗАДАЧИ_ФАЗЫ_2}}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0" y="1965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4–8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0" y="1965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{{БЮДЖЕТ_2}}₽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11827"/>
          </a:solidFill>
          <a:ln w="6350">
            <a:solidFill>
              <a:srgbClr val="1E263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834640"/>
            <a:ext cx="45720" cy="8229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880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Фаза 3: {{ФАЗА_3}}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{{ЗАДАЧИ_ФАЗЫ_3}}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9–16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0" y="2926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{{БЮДЖЕТ_3}}₽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7947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11827"/>
          </a:solidFill>
          <a:ln w="6350">
            <a:solidFill>
              <a:srgbClr val="1E263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794760"/>
            <a:ext cx="45720" cy="82296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840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Фаза 4: {{ФАЗА_4}}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4160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{{ЗАДАЧИ_ФАЗЫ_4}}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0" y="3886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17–24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0" y="3886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{{БЮДЖЕТ_4}}₽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43600" y="4709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ИТОГО:  {{БЮДЖЕТ_ИТОГО}}₽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13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Финансовая модель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Базовый сценарий · 6 месяцев · {{МАРКЕТПЛЕЙС}} + доп. каналы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823960" cy="292608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Показатель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560320" y="82296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 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520440" y="82296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 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480560" y="82296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 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40680" y="82296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 3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400800" y="82296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 4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360920" y="82296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 5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321040" y="82296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 6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11155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GMV (тыс. ₽)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560320" y="111556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{{GMV0}}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520440" y="111556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{{GMV1}}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480560" y="111556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{{GMV2}}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440680" y="111556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{{GMV3}}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400800" y="111556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{{GMV4}}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360920" y="111556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{{GMV5}}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321040" y="111556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{{GMV6}}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1408176"/>
            <a:ext cx="2103120" cy="29260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множитель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560320" y="140817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×1.00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520440" y="140817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×{{M1}}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480560" y="140817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×{{M2}}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40680" y="140817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×{{M3}}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400800" y="140817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×{{M4}}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360920" y="140817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×{{M5}}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321040" y="140817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×{{M6}}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7200" y="1700784"/>
            <a:ext cx="2103120" cy="29260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GMV доп. каналы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560320" y="1700784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520440" y="1700784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480560" y="1700784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440680" y="1700784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{{TG3}}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400800" y="1700784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{{TG4}}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360920" y="1700784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{{TG5}}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321040" y="1700784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{{TG6}}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57200" y="1993392"/>
            <a:ext cx="8823960" cy="292608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19933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GMV ИТОГО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560320" y="1993392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{{T0}}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520440" y="1993392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{{T1}}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480560" y="1993392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{{T2}}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440680" y="1993392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{{T3}}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400800" y="1993392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{{T4}}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360920" y="1993392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{{T5}}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321040" y="1993392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{{T6}}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57200" y="22860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Маржа ({{M}}%)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560320" y="228600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{{P0}}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520440" y="228600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{{P1}}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480560" y="228600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{{P2}}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440680" y="228600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{{P3}}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400800" y="228600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{{P4}}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360920" y="228600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{{P5}}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8321040" y="228600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{{P6}}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57200" y="25786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Инвестиции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560320" y="257860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3520440" y="257860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{{I1}}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480560" y="257860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{{I2}}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440680" y="257860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{{I3}}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400800" y="257860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{{I4}}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7360920" y="257860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{{I5}}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8321040" y="257860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{{I6}}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57200" y="2871216"/>
            <a:ext cx="8823960" cy="292608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63" name="Text 61"/>
          <p:cNvSpPr/>
          <p:nvPr/>
        </p:nvSpPr>
        <p:spPr>
          <a:xfrm>
            <a:off x="457200" y="2871216"/>
            <a:ext cx="2103120" cy="29260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Чист. прибыль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2560320" y="287121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{{NP0}}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3520440" y="287121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{{NP1}}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4480560" y="287121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{{NP2}}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440680" y="287121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{{NP3}}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400800" y="287121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{{NP4}}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7360920" y="287121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{{NP5}}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8321040" y="287121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{{NP6}}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457200" y="411480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0F1729"/>
          </a:solidFill>
          <a:ln w="6350">
            <a:solidFill>
              <a:srgbClr val="1E263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57200" y="4160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{{БЮДЖЕТ_ИТОГО}}₽</a:t>
            </a:r>
            <a:endParaRPr lang="en-US" sz="2000" dirty="0"/>
          </a:p>
        </p:txBody>
      </p:sp>
      <p:sp>
        <p:nvSpPr>
          <p:cNvPr id="73" name="Text 71"/>
          <p:cNvSpPr/>
          <p:nvPr/>
        </p:nvSpPr>
        <p:spPr>
          <a:xfrm>
            <a:off x="457200" y="44988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Инвестиции за 6 мес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2606040" y="411480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0F1729"/>
          </a:solidFill>
          <a:ln w="6350">
            <a:solidFill>
              <a:srgbClr val="1E263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606040" y="4160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×{{МНОЖИТЕЛЬ}}</a:t>
            </a:r>
            <a:endParaRPr lang="en-US" sz="2000" dirty="0"/>
          </a:p>
        </p:txBody>
      </p:sp>
      <p:sp>
        <p:nvSpPr>
          <p:cNvPr id="76" name="Text 74"/>
          <p:cNvSpPr/>
          <p:nvPr/>
        </p:nvSpPr>
        <p:spPr>
          <a:xfrm>
            <a:off x="2606040" y="44988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 GMV (мес 6)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4754880" y="411480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0F1729"/>
          </a:solidFill>
          <a:ln w="6350">
            <a:solidFill>
              <a:srgbClr val="1E263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754880" y="4160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~{{ROI}}%</a:t>
            </a:r>
            <a:endParaRPr lang="en-US" sz="2000" dirty="0"/>
          </a:p>
        </p:txBody>
      </p:sp>
      <p:sp>
        <p:nvSpPr>
          <p:cNvPr id="79" name="Text 77"/>
          <p:cNvSpPr/>
          <p:nvPr/>
        </p:nvSpPr>
        <p:spPr>
          <a:xfrm>
            <a:off x="4754880" y="44988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за 6 мес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6903720" y="411480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0F1729"/>
          </a:solidFill>
          <a:ln w="6350">
            <a:solidFill>
              <a:srgbClr val="1E263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903720" y="4160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~{{ОКУПАЕМОСТЬ}} мес</a:t>
            </a:r>
            <a:endParaRPr lang="en-US" sz="2000" dirty="0"/>
          </a:p>
        </p:txBody>
      </p:sp>
      <p:sp>
        <p:nvSpPr>
          <p:cNvPr id="82" name="Text 80"/>
          <p:cNvSpPr/>
          <p:nvPr/>
        </p:nvSpPr>
        <p:spPr>
          <a:xfrm>
            <a:off x="6903720" y="44988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Окупаемость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13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Прогноз по каналам — месяц 6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111827"/>
          </a:solidFill>
          <a:ln w="6350">
            <a:solidFill>
              <a:srgbClr val="1E26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  {{МАРКЕТПЛЕЙС}} (оптимизированный)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Цель: {{ЦЕЛЬ_1}}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0" y="1051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+{{X}}%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111827"/>
          </a:solidFill>
          <a:ln w="6350">
            <a:solidFill>
              <a:srgbClr val="1E26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{{КАНАЛ_2}} (бот + канал)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Цель: {{ЦЕЛЬ_2}}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0" y="1920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новый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111827"/>
          </a:solidFill>
          <a:ln w="6350">
            <a:solidFill>
              <a:srgbClr val="1E26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 {{КАНАЛ_3}}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Цель: {{ЦЕЛЬ_3}}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0" y="2788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новый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52044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111827"/>
          </a:solidFill>
          <a:ln w="6350">
            <a:solidFill>
              <a:srgbClr val="1E26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 {{КАНАЛ_4}}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Цель: {{ЦЕЛЬ_4}}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0" y="3657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новый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{{РЕЗЮМЕ_КАНАЛОВ: Основной % роста — из маркетплейса. Доп. каналы: бренд, прямой контакт}}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13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и контрольные точки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7863840" cy="274320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Метрика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0" y="822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Сейчас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212080" y="822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(мес 3)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766560" y="822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(мес 6)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0E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Средний рейтинг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0" y="1097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{{РЕЙТИНГ}}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212080" y="1097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{{Ц_3_РЕЙТИНГ}}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766560" y="1097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{{Ц_6_РЕЙТИНГ}}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1371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0E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Негативные отзывы (⭐1-3)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0" y="1371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{{NEG}}%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212080" y="1371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{{Ц_3_NEG}}%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766560" y="1371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{{Ц_6_NEG}}%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0E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{{КЛЮЧ_МЕТРИКА}} в отзывах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0" y="1645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{{KM}}%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212080" y="1645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{{Ц_3_KM}}%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766560" y="1645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{{Ц_6_KM}}%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0E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Доля фото-отзывов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0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{{ФОТО}}%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212080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{{Ц_3_ФОТО}}%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766560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{{Ц_6_ФОТО}}%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2194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0E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GMV (K₽/мес)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0" y="2194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~{{GMV0}}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212080" y="2194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~{{GMV3}}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66560" y="2194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~{{GMV6}}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2468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0E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Подписчики доп. каналов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0" y="2468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212080" y="2468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{{SUB3}}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766560" y="2468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{{SUB6}}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2743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0E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Заказов/мес (доп. каналы)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57600" y="2743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212080" y="2743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{{ORD3}}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766560" y="2743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{{ORD6}}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3017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0E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ДРР (реклама)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657600" y="3017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212080" y="3017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766560" y="3017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≤15%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/ No-Go точки: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{{ТОЧКА_1}}  ·  {{ТОЧКА_2}}  ·  {{ТОЧКА_3: итоговый ROI}}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13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Следующие шаги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457200" cy="45720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0972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{{ШАГ_1: Первое действие от клиента}}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8745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{{ШАГ_2: Второе действие от клиента}}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6517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{{ШАГ_3: Третье действие — утвердить приоритеты и бюджет}}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474720"/>
            <a:ext cx="457200" cy="45720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4290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{{ШАГ_4: Старт Фазы 1}}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Общий бюджет: {{БЮДЖЕТ_ИТОГО}}₽  ·  Горизонт: {{МЕСЯЦЕВ}} месяцев  ·  Целевой ROI: ~{{ROI}}%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2026-08-08T16:21:08Z</dcterms:created>
  <dcterms:modified xsi:type="dcterms:W3CDTF">2026-08-08T16:21:08Z</dcterms:modified>
</cp:coreProperties>
</file>